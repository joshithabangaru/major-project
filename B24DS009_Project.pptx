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62" r:id="rId5"/>
    <p:sldId id="258" r:id="rId6"/>
    <p:sldId id="259" r:id="rId7"/>
    <p:sldId id="260" r:id="rId8"/>
    <p:sldId id="261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F4A6913-F196-428B-80DA-C3C4DD71B995}">
          <p14:sldIdLst>
            <p14:sldId id="256"/>
            <p14:sldId id="265"/>
            <p14:sldId id="257"/>
            <p14:sldId id="262"/>
            <p14:sldId id="258"/>
            <p14:sldId id="259"/>
            <p14:sldId id="260"/>
            <p14:sldId id="261"/>
            <p14:sldId id="263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0C17"/>
    <a:srgbClr val="DC72C0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889" autoAdjust="0"/>
  </p:normalViewPr>
  <p:slideViewPr>
    <p:cSldViewPr snapToGrid="0">
      <p:cViewPr varScale="1">
        <p:scale>
          <a:sx n="73" d="100"/>
          <a:sy n="73" d="100"/>
        </p:scale>
        <p:origin x="10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952B2-97F5-41C9-8794-3178A668FD9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CA863-C498-45FF-B894-8772C43C0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192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CA863-C498-45FF-B894-8772C43C0DD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75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CA863-C498-45FF-B894-8772C43C0DD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057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A601-EC0A-F876-FE55-A52DC1B24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22C56-92BF-69AA-3AE8-E3A64D7E9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8B4B6-A351-E467-6582-DDB95A57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C57EF-5C71-63E0-0D04-CC7A2F6AF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A3CEB-E458-23D6-77C4-323A9855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93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D3B0-93D7-9854-8EC3-489CA2FF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25C3-9CBD-2142-45C8-3843D3C0C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E1DC2-A083-1E8B-27FD-179BF6D6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9261D-ACF9-1FF7-9670-05A31AFE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935F-0557-299B-989D-F9F246F2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22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A7DD-8095-7FBD-4E5E-A4061803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DD453-41AE-4444-3BC6-568EE8446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155C-1233-40C6-7108-BC5EFD73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52234-E3AF-BC8D-F611-74006962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C922-1A3D-7ECD-28D2-C9CCAF4A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6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8DB8-F247-C3C4-143F-2F918FAF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861B-7BE3-C4F4-8768-5CF1BE8AB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0690E-3726-1A59-2346-A750C2279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7CC58-FC83-6A04-CE8C-E370716D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5441F-3B6E-0C07-9232-AB64B6F1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7318C-C3CF-77FE-A89C-5773528C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41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600D-255F-CC5C-48DA-F247C263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C7F8A-8323-8563-9332-4ED5A06C6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0FE69-CEDC-779A-DEA5-A850AE4D3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706A7-3FE6-F37D-69CB-95A533740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0F2B8-C673-53EA-02D4-1356E7385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AD3EB9-DC26-5F1D-324A-5B4D295D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DACF3F-331E-69C2-110D-0F963A73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E78AE4-943A-3CC1-D81C-7A56730C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86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665F-76C2-0945-CFC8-047306C7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CED68-5956-5F7E-1A92-50EF20AA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230ED-1247-CA67-82AA-40E85E7E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FA474-B7D2-98E0-2230-3BF41D9E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19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778A9-FC7F-A0A6-ECA3-70CF099D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02FEC-CBA3-B1E2-F32A-72EE82EA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E3B38-3099-211B-7CF1-FF2A0562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41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E995-CEC7-9FA4-B5AD-AC2448B1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641CA-2F27-32D7-08DE-089C2C2E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3AFB0-9ADB-883B-A228-0F1E7FF26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063F7-76E2-33BB-04F3-0755F976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789E6-7F31-15EF-4E24-D2C529B2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077E0-B5C1-62C5-EEE0-0D7545ED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63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71BD-43AB-9DD6-CC9F-FB8E4ACC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945B4-128F-F16D-2D32-AB6CB8105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F0EEA-2FA4-FE95-3190-C57E6D4A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9D20C-88C9-1906-697E-8F1A061A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0CA2F-7F47-6DC0-889A-E225205E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CC7DA-7D4B-0AC0-7398-EFA0E355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80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C6375-E0C9-4999-ADDF-5A07AD39F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60ECA-E0B6-F067-8BB8-FF8EFD898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73779-4A4D-AD7F-A3FD-04F230A9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01B5-26F9-CF19-2393-153954DD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883D-F750-7483-69FD-AD3A0089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008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D60768-2913-CAF7-27D9-BCE3E2166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0D800-C1E3-3E1D-F01B-619DEF375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052FA-B516-3320-1215-DC168F61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8C3CC-F2F4-5300-5A65-F8694ECBF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3B7FF-5FFA-BEF8-9B80-DB321CC2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13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AD1984-A637-1C93-5A8A-189EDB33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DF7AF-1E6C-1084-1360-DAF63AA07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3019C-94DD-C4D0-D67B-722847360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2C20D-9997-49AC-8FAA-F9D57914262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E6A5B-08D5-5EA6-CE93-27E62BD2A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28A6D-C154-85FD-060C-D81A4784A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2059B-C23A-430A-BFC0-CAD0D6920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1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hyperlink" Target="https://biol312.opened.ca/decell-recell-the-key-to-curing-end-stage-organ-failure/" TargetMode="External"/><Relationship Id="rId7" Type="http://schemas.openxmlformats.org/officeDocument/2006/relationships/hyperlink" Target="https://pxhere.com/en/photo/1608799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hyperlink" Target="https://pixnio.com/fr/media/coronavirus-covid-19-experiment-laboratoire-environnement-de-production" TargetMode="External"/><Relationship Id="rId4" Type="http://schemas.openxmlformats.org/officeDocument/2006/relationships/image" Target="../media/image2.jpg"/><Relationship Id="rId9" Type="http://schemas.openxmlformats.org/officeDocument/2006/relationships/hyperlink" Target="https://peerj.com/articles/11858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8776-BEEF-AADC-E863-488110076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1395" y="78657"/>
            <a:ext cx="7914966" cy="355927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5">
                    <a:lumMod val="75000"/>
                  </a:schemeClr>
                </a:solidFill>
                <a:latin typeface="Lucida Calligraphy" panose="03010101010101010101" pitchFamily="66" charset="0"/>
              </a:rPr>
              <a:t>Post-Pandemic data-driven health analysis across different categories</a:t>
            </a:r>
            <a:br>
              <a:rPr lang="en-IN" sz="4000" b="1" dirty="0">
                <a:solidFill>
                  <a:schemeClr val="accent5">
                    <a:lumMod val="75000"/>
                  </a:schemeClr>
                </a:solidFill>
                <a:latin typeface="Lucida Calligraphy" panose="03010101010101010101" pitchFamily="66" charset="0"/>
              </a:rPr>
            </a:b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  <a:latin typeface="Lucida Calligraphy" panose="03010101010101010101" pitchFamily="66" charset="0"/>
              </a:rPr>
              <a:t>(age + gender)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C929C-9EB3-BCF7-B809-C21C597CA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22890" y="5447071"/>
            <a:ext cx="2979175" cy="1332271"/>
          </a:xfrm>
        </p:spPr>
        <p:txBody>
          <a:bodyPr>
            <a:normAutofit fontScale="85000" lnSpcReduction="10000"/>
          </a:bodyPr>
          <a:lstStyle/>
          <a:p>
            <a:r>
              <a:rPr lang="en-IN" dirty="0" err="1">
                <a:solidFill>
                  <a:schemeClr val="tx2"/>
                </a:solidFill>
              </a:rPr>
              <a:t>Joshiitha</a:t>
            </a:r>
            <a:r>
              <a:rPr lang="en-IN" dirty="0">
                <a:solidFill>
                  <a:schemeClr val="tx2"/>
                </a:solidFill>
              </a:rPr>
              <a:t> Reddy, B24DS009</a:t>
            </a:r>
          </a:p>
          <a:p>
            <a:r>
              <a:rPr lang="en-IN" dirty="0">
                <a:solidFill>
                  <a:schemeClr val="tx2"/>
                </a:solidFill>
              </a:rPr>
              <a:t>BTech DSAI</a:t>
            </a:r>
          </a:p>
          <a:p>
            <a:r>
              <a:rPr lang="en-IN" dirty="0">
                <a:solidFill>
                  <a:schemeClr val="tx2"/>
                </a:solidFill>
              </a:rPr>
              <a:t>Data Analysis and Visualization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8657D-07C2-F415-3D71-8EF7B8FE4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7596" y="2530578"/>
            <a:ext cx="3322570" cy="20254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EAEFCAA-A270-5696-6A70-06B3A63BD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55639" y="-31954"/>
            <a:ext cx="3657600" cy="2438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7C83EC2-1C88-87BE-DECC-562D649E9C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83492" y="4680157"/>
            <a:ext cx="3153697" cy="21778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5C7D89-26C8-FE08-EF24-157800053D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660166" y="4680156"/>
            <a:ext cx="4260645" cy="202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30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6D4B-247D-007C-48B9-BFDDD8A4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98" y="175907"/>
            <a:ext cx="10515600" cy="1222476"/>
          </a:xfrm>
        </p:spPr>
        <p:txBody>
          <a:bodyPr>
            <a:normAutofit/>
          </a:bodyPr>
          <a:lstStyle/>
          <a:p>
            <a:r>
              <a:rPr lang="en-US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COVID era is now behind us, but an important question still remains-</a:t>
            </a:r>
            <a:r>
              <a:rPr 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did people actually recover fully? </a:t>
            </a:r>
            <a:endParaRPr lang="en-IN" sz="32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07277-DDED-A924-4D71-25E27520A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85187"/>
            <a:ext cx="10515600" cy="124869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Our analysis is based on survey data collected from individuals during the pandemic(infected and non-infected). The dataset captures demographic information, vaccination history, symptom profiles, mental health indicators, and recovery trajectories across multiple dimensions. And the data is taken w.r.t 2019,2020,2021 years.</a:t>
            </a:r>
            <a:endParaRPr lang="en-US" dirty="0"/>
          </a:p>
          <a:p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B62DDE-F55E-58C6-563E-7A268DC7AB78}"/>
              </a:ext>
            </a:extLst>
          </p:cNvPr>
          <p:cNvSpPr/>
          <p:nvPr/>
        </p:nvSpPr>
        <p:spPr>
          <a:xfrm>
            <a:off x="58195" y="2183321"/>
            <a:ext cx="7168515" cy="19658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Post-pandemic health still under study </a:t>
            </a:r>
          </a:p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Some people still report symptoms </a:t>
            </a:r>
          </a:p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Study explores hidden patterns</a:t>
            </a:r>
          </a:p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Highlights how post-pandemic health changes are more common than we often realize.</a:t>
            </a:r>
          </a:p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A1A4332-1792-D5F6-57EE-C523A288D889}"/>
              </a:ext>
            </a:extLst>
          </p:cNvPr>
          <p:cNvSpPr/>
          <p:nvPr/>
        </p:nvSpPr>
        <p:spPr>
          <a:xfrm>
            <a:off x="694198" y="5294671"/>
            <a:ext cx="10809544" cy="1725561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A patient survey was conducted at </a:t>
            </a: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Aadarana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Clinic under the guidance of Dr. Chandhana </a:t>
            </a: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Vanguru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(NPT neuro, Neuro Physical Therapist) and at City Neuro Hospital led by Dr. </a:t>
            </a: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Vamshee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Mohan Beeram (MS Neuro, Neurosurgeon).</a:t>
            </a:r>
          </a:p>
          <a:p>
            <a:pPr algn="ctr"/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4230C5-71E2-8352-6502-894DAB3C0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310" y="1524000"/>
            <a:ext cx="4297496" cy="262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0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B46B-5FB4-985C-495C-8772427AF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1" y="403123"/>
            <a:ext cx="11100619" cy="766915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Algerian" panose="04020705040A02060702" pitchFamily="82" charset="0"/>
              </a:rPr>
              <a:t>Health changes and new symptoms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D5D16-EE8D-0976-0E73-746F5ADB7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04154"/>
            <a:ext cx="9144000" cy="51127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FD61B-A414-02BB-213F-EE83ACF22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1524000"/>
            <a:ext cx="11631560" cy="519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4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9C0C-2D27-6C2B-DE3F-B5942B174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8324"/>
            <a:ext cx="10515600" cy="747250"/>
          </a:xfrm>
        </p:spPr>
        <p:txBody>
          <a:bodyPr>
            <a:noAutofit/>
          </a:bodyPr>
          <a:lstStyle/>
          <a:p>
            <a:r>
              <a:rPr lang="en-IN" sz="4800" b="1" dirty="0">
                <a:latin typeface="Britannic Bold" panose="020B0903060703020204" pitchFamily="34" charset="0"/>
              </a:rPr>
              <a:t>Is vaccination a reason of symptoms?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4F0F6-8498-12C8-A81A-812D0CDA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565058"/>
            <a:ext cx="10515600" cy="1194618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tx2"/>
                </a:solidFill>
              </a:rPr>
              <a:t>  More number of vaccination doses =&gt; more symptoms</a:t>
            </a:r>
          </a:p>
          <a:p>
            <a:r>
              <a:rPr lang="en-IN" dirty="0">
                <a:solidFill>
                  <a:schemeClr val="tx2"/>
                </a:solidFill>
              </a:rPr>
              <a:t>  0 doses vaccine=&gt;least symptoms (but few got infected by corona having highest </a:t>
            </a:r>
          </a:p>
          <a:p>
            <a:r>
              <a:rPr lang="en-IN" dirty="0">
                <a:solidFill>
                  <a:schemeClr val="tx2"/>
                </a:solidFill>
              </a:rPr>
              <a:t>     number of symptoms)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CB855-40DD-C67F-B5C7-FC7DD45F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40" y="943897"/>
            <a:ext cx="11710218" cy="462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5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6F58-5E73-2490-5EFE-2103F4E5D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7653"/>
            <a:ext cx="10515600" cy="1288024"/>
          </a:xfrm>
        </p:spPr>
        <p:txBody>
          <a:bodyPr>
            <a:normAutofit/>
          </a:bodyPr>
          <a:lstStyle/>
          <a:p>
            <a:r>
              <a:rPr lang="en-IN" sz="3200" b="1" i="1" dirty="0">
                <a:latin typeface="Castellar" panose="020A0402060406010301" pitchFamily="18" charset="0"/>
              </a:rPr>
              <a:t>The intensity of Symptoms across different category of people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FDD82-5D6A-5717-E472-94DA7EB63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322142"/>
            <a:ext cx="10515600" cy="398204"/>
          </a:xfrm>
        </p:spPr>
        <p:txBody>
          <a:bodyPr>
            <a:normAutofit lnSpcReduction="10000"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3A00B-E2D2-318A-0B30-A08DD8DCC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1553497"/>
            <a:ext cx="11798710" cy="516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05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F0E0-0072-5E93-E745-4CCC04BEB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233"/>
            <a:ext cx="9144000" cy="398205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ritannic Bold" panose="020B0903060703020204" pitchFamily="34" charset="0"/>
                <a:ea typeface="Adobe Gothic Std B" panose="020B0800000000000000" pitchFamily="34" charset="-128"/>
              </a:rPr>
              <a:t>Symptoms patterns across Categories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F1931-FFF0-0E89-A572-5D0B90A53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753" y="5840361"/>
            <a:ext cx="10874477" cy="737420"/>
          </a:xfr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>
            <a:normAutofit fontScale="92500"/>
          </a:bodyPr>
          <a:lstStyle/>
          <a:p>
            <a:r>
              <a:rPr lang="en-IN" sz="28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TRENDS</a:t>
            </a:r>
            <a:r>
              <a:rPr lang="en-IN" sz="2800" dirty="0">
                <a:latin typeface="Agency FB" panose="020B0503020202020204" pitchFamily="34" charset="0"/>
              </a:rPr>
              <a:t>:- Different category have different symptom and Same category have similar symptoms</a:t>
            </a:r>
          </a:p>
          <a:p>
            <a:endParaRPr lang="en-IN" sz="2800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0EB60-E93E-E8FB-06DA-4D58AD09C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560439"/>
            <a:ext cx="11700387" cy="509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0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0261F-BC96-E440-1E76-6D96BA8E7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781" y="127819"/>
            <a:ext cx="11736438" cy="688258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Mental health across categories </a:t>
            </a:r>
            <a:r>
              <a:rPr lang="en-IN" sz="1800" b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(Stress, Depression and Decreased Patience)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FEC8D-81E3-12EE-CE95-947A4A3B6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742" y="6041922"/>
            <a:ext cx="9832258" cy="688258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Insight:- Middle aged male are facing the highest mental health issues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34CCF-60AA-6F61-1A5C-53CF313E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942628"/>
            <a:ext cx="11736438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8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7D6B7-2E30-CD0C-C55F-C5CDCA2B9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4" y="147484"/>
            <a:ext cx="12044516" cy="727587"/>
          </a:xfrm>
        </p:spPr>
        <p:txBody>
          <a:bodyPr>
            <a:noAutofit/>
          </a:bodyPr>
          <a:lstStyle/>
          <a:p>
            <a:r>
              <a:rPr lang="en-IN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Song Std L" panose="02020300000000000000" pitchFamily="18" charset="-128"/>
                <a:ea typeface="Adobe Song Std L" panose="02020300000000000000" pitchFamily="18" charset="-128"/>
              </a:rPr>
              <a:t>Did Symptoms Disappear at any point of Time?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74456-FF21-A54E-2A06-24912708F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702710"/>
            <a:ext cx="10515600" cy="1155289"/>
          </a:xfrm>
        </p:spPr>
        <p:txBody>
          <a:bodyPr>
            <a:normAutofit fontScale="92500"/>
          </a:bodyPr>
          <a:lstStyle/>
          <a:p>
            <a:r>
              <a:rPr lang="en-IN" sz="32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anose="02020300000000000000" pitchFamily="18" charset="-128"/>
                <a:ea typeface="Adobe Ming Std L" panose="02020300000000000000" pitchFamily="18" charset="-128"/>
              </a:rPr>
              <a:t>Insight:- For many people symptoms started after 9 months of vaccination and disappeared and reappeared after 18 months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C5FD2-8B4A-3A32-1990-2819649BD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3" y="990260"/>
            <a:ext cx="11669754" cy="460429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C590240-5280-201B-CA1D-9763784E7259}"/>
              </a:ext>
            </a:extLst>
          </p:cNvPr>
          <p:cNvSpPr/>
          <p:nvPr/>
        </p:nvSpPr>
        <p:spPr>
          <a:xfrm>
            <a:off x="10196052" y="3097162"/>
            <a:ext cx="1995947" cy="20844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Dynamic</a:t>
            </a:r>
          </a:p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Nature</a:t>
            </a:r>
          </a:p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Of </a:t>
            </a:r>
          </a:p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Symptom</a:t>
            </a:r>
          </a:p>
        </p:txBody>
      </p:sp>
    </p:spTree>
    <p:extLst>
      <p:ext uri="{BB962C8B-B14F-4D97-AF65-F5344CB8AC3E}">
        <p14:creationId xmlns:p14="http://schemas.microsoft.com/office/powerpoint/2010/main" val="737915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00DB-92A5-556F-F74F-7CD3E73A2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1" y="117988"/>
            <a:ext cx="11434917" cy="766916"/>
          </a:xfrm>
        </p:spPr>
        <p:txBody>
          <a:bodyPr>
            <a:normAutofit/>
          </a:bodyPr>
          <a:lstStyle/>
          <a:p>
            <a:r>
              <a:rPr lang="en-I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tellar" panose="020A0402060406010301" pitchFamily="18" charset="0"/>
              </a:rPr>
              <a:t>Can we overcome the dynamics of symptoms?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83987-8B31-AD7A-A4CE-4E29B1E0E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141" y="5987845"/>
            <a:ext cx="11121309" cy="870155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Insights:-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Individuals who maintained disciplined lifestyles—including regular physical activity, a balanced diet, and, where necessary, appropriate medical care—demonstrated a significantly higher degree of recovery from these symptoms.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3FD9E-0A59-3274-77A4-5AFBD60F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57" y="884904"/>
            <a:ext cx="10900886" cy="499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6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28C5-424E-ADCD-FC83-A17E289E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104"/>
            <a:ext cx="10515600" cy="951186"/>
          </a:xfrm>
        </p:spPr>
        <p:txBody>
          <a:bodyPr>
            <a:noAutofit/>
          </a:bodyPr>
          <a:lstStyle/>
          <a:p>
            <a:r>
              <a:rPr lang="en-IN" b="1" i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  <a:ea typeface="Adobe Fan Heiti Std B" panose="020B0700000000000000" pitchFamily="34" charset="-128"/>
              </a:rPr>
              <a:t>Insights &amp; Implications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62038-7CC1-1589-EC54-5F0A13AC7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924" y="5496910"/>
            <a:ext cx="10373710" cy="1145628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457200" indent="-457200">
              <a:buAutoNum type="arabicPeriod"/>
            </a:pPr>
            <a:endParaRPr lang="en-IN" dirty="0"/>
          </a:p>
          <a:p>
            <a:pPr marL="457200" indent="-457200">
              <a:buAutoNum type="arabicPeriod"/>
            </a:pPr>
            <a:endParaRPr lang="en-IN" dirty="0"/>
          </a:p>
          <a:p>
            <a:pPr marL="457200" indent="-457200">
              <a:buAutoNum type="arabicPeriod"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4AD0C4-513D-DC6D-CE84-F8435536CA6D}"/>
              </a:ext>
            </a:extLst>
          </p:cNvPr>
          <p:cNvSpPr/>
          <p:nvPr/>
        </p:nvSpPr>
        <p:spPr>
          <a:xfrm>
            <a:off x="157655" y="1056291"/>
            <a:ext cx="8555421" cy="39539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1. Symptom severity varied across individuals (high, medium, low)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2. Different age groups experienced different symptom patterns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3. Mental health impact was notable in specific groups (middle-aged males, adult females, teen girls)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4. Symptoms appeared immediately post-infection or 9 months after vaccination, with recurring patterns over time i.e. reappear after 18 months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5. Individuals with disciplined lifestyles showed fewer symptoms and faster recovery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6. Higher vaccination doses were associated with more reported symptoms, while fewer doses showed lesser impact </a:t>
            </a: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7. Previously infected individuals exhibited a broader range of symptoms beyond common categories </a:t>
            </a:r>
          </a:p>
          <a:p>
            <a:pPr algn="ctr"/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37F189-8530-BE50-9AD2-6DA069D3A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178" y="4160057"/>
            <a:ext cx="3216167" cy="2482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538C83-013D-0299-3001-7C02478CE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176" y="956440"/>
            <a:ext cx="3216168" cy="28272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146F17-9140-7B7E-2708-828F9BF98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55" y="5225680"/>
            <a:ext cx="8474523" cy="163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61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A0F1-7336-1977-C299-5D5AD0CCA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6648" y="283780"/>
            <a:ext cx="8282152" cy="840828"/>
          </a:xfrm>
        </p:spPr>
        <p:txBody>
          <a:bodyPr>
            <a:normAutofit/>
          </a:bodyPr>
          <a:lstStyle/>
          <a:p>
            <a:r>
              <a:rPr lang="en-IN" sz="5400" b="1" i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SemiConde" panose="020B0502040204020203" pitchFamily="34" charset="0"/>
              </a:rPr>
              <a:t>Suggestions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2E7533-DD2E-645D-C517-FDE0F1792A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61964" y="787838"/>
            <a:ext cx="64398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Vaccines should be monitored for long-term side effects, while healthy individuals show better outcomes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 disciplined lifestyle (exercise, diet, self-care) is essential for better recovery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Regular health check-ups help in early detection and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Awareness of post-pandemic health effects should be increased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2">
                    <a:lumMod val="50000"/>
                  </a:schemeClr>
                </a:solidFill>
                <a:latin typeface="Adobe Myungjo Std M" panose="02020600000000000000" pitchFamily="18" charset="-128"/>
                <a:ea typeface="Adobe Myungjo Std M" panose="02020600000000000000" pitchFamily="18" charset="-128"/>
              </a:rPr>
              <a:t>Equal focus on physical and mental health is important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5FDF71-C0FE-F437-6E04-6904FE1FC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670" y="84083"/>
            <a:ext cx="4560999" cy="4466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7F7BB3-6E0E-CD56-A8FF-9258D12CE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670" y="4597896"/>
            <a:ext cx="4560999" cy="217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32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509</Words>
  <Application>Microsoft Office PowerPoint</Application>
  <PresentationFormat>Widescreen</PresentationFormat>
  <Paragraphs>49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Adobe Fan Heiti Std B</vt:lpstr>
      <vt:lpstr>Adobe Ming Std L</vt:lpstr>
      <vt:lpstr>Adobe Myungjo Std M</vt:lpstr>
      <vt:lpstr>Adobe Song Std L</vt:lpstr>
      <vt:lpstr>Agency FB</vt:lpstr>
      <vt:lpstr>Algerian</vt:lpstr>
      <vt:lpstr>Arial</vt:lpstr>
      <vt:lpstr>Bahnschrift SemiBold Condensed</vt:lpstr>
      <vt:lpstr>Bahnschrift SemiLight SemiConde</vt:lpstr>
      <vt:lpstr>Britannic Bold</vt:lpstr>
      <vt:lpstr>Calibri</vt:lpstr>
      <vt:lpstr>Calibri Light</vt:lpstr>
      <vt:lpstr>Castellar</vt:lpstr>
      <vt:lpstr>Lucida Calligraphy</vt:lpstr>
      <vt:lpstr>Office Theme</vt:lpstr>
      <vt:lpstr>Post-Pandemic data-driven health analysis across different categories (age + gender)</vt:lpstr>
      <vt:lpstr>COVID era is now behind us, but an important question still remains- did people actually recover fully? </vt:lpstr>
      <vt:lpstr>Health changes and new symptoms</vt:lpstr>
      <vt:lpstr>Is vaccination a reason of symptoms?</vt:lpstr>
      <vt:lpstr>The intensity of Symptoms across different category of people</vt:lpstr>
      <vt:lpstr>Symptoms patterns across Categories</vt:lpstr>
      <vt:lpstr>Mental health across categories (Stress, Depression and Decreased Patience) </vt:lpstr>
      <vt:lpstr>Did Symptoms Disappear at any point of Time?</vt:lpstr>
      <vt:lpstr>Can we overcome the dynamics of symptoms?</vt:lpstr>
      <vt:lpstr>Insights &amp; Implications</vt:lpstr>
      <vt:lpstr>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Joshita Reddy Bangaru</dc:creator>
  <cp:lastModifiedBy>Joshita Reddy Bangaru</cp:lastModifiedBy>
  <cp:revision>3</cp:revision>
  <dcterms:created xsi:type="dcterms:W3CDTF">2026-04-15T10:29:27Z</dcterms:created>
  <dcterms:modified xsi:type="dcterms:W3CDTF">2026-04-15T16:51:32Z</dcterms:modified>
</cp:coreProperties>
</file>